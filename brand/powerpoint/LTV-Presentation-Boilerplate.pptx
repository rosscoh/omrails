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active users (M)</c:v>
                </c:pt>
              </c:strCache>
            </c:strRef>
          </c:tx>
          <c:spPr>
            <a:solidFill>
              <a:srgbClr val="1B5CF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F708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</c:v>
                </c:pt>
                <c:pt idx="1">
                  <c:v>3.6</c:v>
                </c:pt>
                <c:pt idx="2">
                  <c:v>4.2</c:v>
                </c:pt>
                <c:pt idx="3">
                  <c:v>4.5</c:v>
                </c:pt>
                <c:pt idx="4">
                  <c:v>5.3</c:v>
                </c:pt>
                <c:pt idx="5">
                  <c:v>6.1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F708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08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0"/>
        <c:axPos val="l"/>
        <c:majorGridlines>
          <c:spPr>
            <a:ln w="12700" cap="flat">
              <a:solidFill>
                <a:srgbClr val="DC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08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Replace the headline with your deck title and update the date line. The mint half of the headline is the accent — keep it to two or three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layout. Six numbered items in two columns — drop rows you don't need and the grid still 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Duplicate this slide for each new section and bump the section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Text-plus-stats layout. The four stat cards work equally well as a standalone KPI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grid. Swap in logos by replacing the icon chip with an image at the same coordinates.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KPI slide. Three is the sweet spot — four fits, five gets cramped.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PowerPoint chart — click it to edit the data directly. Always pair a chart with the one sentence it 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Half-bleed panel layout. Drop an image over the dark rectangle at x=7.6, y=0, w=5.73, h=7.5 for a full-bleed treatment.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Icon-row list. Works for values, principles, feature lists or requirements — up to five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layout. Filled markers are complete or in-flight; outlined markers are upcoming.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 comparison. The tinted card is the recommendation — only ever tint one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layout. Replace the initial circles with cropped headshots at the same 1.5 inch diameter.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/ statement slide. Keep it under 30 words so the type can stay large.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table. Header row uses the ink fill; body rows alternate white and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slide. Delete it before sending a deck externally, or keep it as the last page of an internal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Update the contact lines; the dark treatment bookends the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324612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389888" y="749808"/>
            <a:ext cx="137160" cy="137160"/>
          </a:xfrm>
          <a:prstGeom prst="ellipse">
            <a:avLst/>
          </a:prstGeom>
          <a:solidFill>
            <a:srgbClr val="2BD9A4"/>
          </a:solidFill>
          <a:ln/>
        </p:spPr>
      </p:sp>
      <p:sp>
        <p:nvSpPr>
          <p:cNvPr id="5" name="Text 2"/>
          <p:cNvSpPr/>
          <p:nvPr/>
        </p:nvSpPr>
        <p:spPr>
          <a:xfrm>
            <a:off x="1664208" y="5669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LIFETIME VALUE COMPANY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224028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Everyday </a:t>
            </a:r>
            <a:pPr indent="0" marL="0">
              <a:lnSpc>
                <a:spcPts val="5600"/>
              </a:lnSpc>
              <a:buNone/>
            </a:pPr>
            <a:r>
              <a:rPr lang="en-US" sz="5000" b="1" spc="-120" kern="0" dirty="0">
                <a:solidFill>
                  <a:srgbClr val="2BD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685800" y="4315968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ready-to-use presentation system: cover, section, content, data and closing layouts built on the LTV palette and type scale.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  ·  Month Year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530352" cy="530352"/>
          </a:xfrm>
          <a:prstGeom prst="ellipse">
            <a:avLst/>
          </a:prstGeom>
          <a:solidFill>
            <a:srgbClr val="E8EE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35608" y="21305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mission and how we're structured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148840"/>
            <a:ext cx="530352" cy="530352"/>
          </a:xfrm>
          <a:prstGeom prst="ellipse">
            <a:avLst/>
          </a:prstGeom>
          <a:solidFill>
            <a:srgbClr val="E8EE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148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50608" y="21305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brands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50608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portfolio and what each one does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401568"/>
            <a:ext cx="530352" cy="530352"/>
          </a:xfrm>
          <a:prstGeom prst="ellipse">
            <a:avLst/>
          </a:prstGeom>
          <a:solidFill>
            <a:srgbClr val="E8EE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015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35608" y="33832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35608" y="36758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 and where we're heading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401568"/>
            <a:ext cx="530352" cy="530352"/>
          </a:xfrm>
          <a:prstGeom prst="ellipse">
            <a:avLst/>
          </a:prstGeom>
          <a:solidFill>
            <a:srgbClr val="E8EE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4015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50608" y="33832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50608" y="36758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trends and what they tell 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654296"/>
            <a:ext cx="530352" cy="530352"/>
          </a:xfrm>
          <a:prstGeom prst="ellipse">
            <a:avLst/>
          </a:prstGeom>
          <a:solidFill>
            <a:srgbClr val="E8EE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654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35608" y="46360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35608" y="49286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process and operating principles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4654296"/>
            <a:ext cx="530352" cy="530352"/>
          </a:xfrm>
          <a:prstGeom prst="ellipse">
            <a:avLst/>
          </a:prstGeom>
          <a:solidFill>
            <a:srgbClr val="E8EE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654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50608" y="46360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50608" y="49286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 and owners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393192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80" kern="0" dirty="0">
                <a:solidFill>
                  <a:srgbClr val="2BD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5800" y="272491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3794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 company built around one idea — public data should be easy for anyone to find, understand and act 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data, made usable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web and app products that put public data into people's hands — information about people, homes, vehicles and businesses that was always public, but never practical to use.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3566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2007 and remote-first, we operate a portfolio of consumer brands used by millions of people to get answers about the world around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4709160"/>
            <a:ext cx="566928" cy="566928"/>
          </a:xfrm>
          <a:prstGeom prst="ellipse">
            <a:avLst/>
          </a:prstGeom>
          <a:solidFill>
            <a:srgbClr val="E2FA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40" y="4867900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46817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4956048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diverse portfolio of technologies, products, and services that gives all people equal access to unbiased data and information.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2724912" cy="1691640"/>
          </a:xfrm>
          <a:prstGeom prst="roundRect">
            <a:avLst>
              <a:gd name="adj" fmla="val 6486"/>
            </a:avLst>
          </a:prstGeom>
          <a:solidFill>
            <a:srgbClr val="F5F8FC"/>
          </a:solidFill>
          <a:ln/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19672" y="213055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6519672" y="28437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281160" y="1783080"/>
            <a:ext cx="2724912" cy="1691640"/>
          </a:xfrm>
          <a:prstGeom prst="roundRect">
            <a:avLst>
              <a:gd name="adj" fmla="val 6486"/>
            </a:avLst>
          </a:prstGeom>
          <a:solidFill>
            <a:srgbClr val="F5F8FC"/>
          </a:solidFill>
          <a:ln/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537192" y="213055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2BD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9537192" y="28437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BRANDS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63640" y="3703320"/>
            <a:ext cx="2724912" cy="1691640"/>
          </a:xfrm>
          <a:prstGeom prst="roundRect">
            <a:avLst>
              <a:gd name="adj" fmla="val 6486"/>
            </a:avLst>
          </a:prstGeom>
          <a:solidFill>
            <a:srgbClr val="F5F8FC"/>
          </a:solidFill>
          <a:ln/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19672" y="405079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6519672" y="4764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REMOTE-FIRST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281160" y="3703320"/>
            <a:ext cx="2724912" cy="1691640"/>
          </a:xfrm>
          <a:prstGeom prst="roundRect">
            <a:avLst>
              <a:gd name="adj" fmla="val 6486"/>
            </a:avLst>
          </a:prstGeom>
          <a:solidFill>
            <a:srgbClr val="F5F8FC"/>
          </a:solidFill>
          <a:ln/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537192" y="405079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9537192" y="4764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SERVED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BRANDS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portfolio, nine front doors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42381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87168"/>
            <a:ext cx="457200" cy="457200"/>
          </a:xfrm>
          <a:prstGeom prst="ellipse">
            <a:avLst/>
          </a:prstGeom>
          <a:solidFill>
            <a:srgbClr val="E8EE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615184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459736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BeenVerified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72491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search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3938" y="2148840"/>
            <a:ext cx="342381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8258" y="2487168"/>
            <a:ext cx="457200" cy="457200"/>
          </a:xfrm>
          <a:prstGeom prst="ellipse">
            <a:avLst/>
          </a:prstGeom>
          <a:solidFill>
            <a:srgbClr val="E8EE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274" y="261518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2618" y="2459736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Bumper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52618" y="272491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history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82077" y="2148840"/>
            <a:ext cx="342381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6397" y="2487168"/>
            <a:ext cx="457200" cy="457200"/>
          </a:xfrm>
          <a:prstGeom prst="ellipse">
            <a:avLst/>
          </a:prstGeom>
          <a:solidFill>
            <a:srgbClr val="E8EE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413" y="261518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50757" y="2459736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Ownerly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950757" y="272491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value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5800" y="3474720"/>
            <a:ext cx="342381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0120" y="3813048"/>
            <a:ext cx="457200" cy="457200"/>
          </a:xfrm>
          <a:prstGeom prst="ellipse">
            <a:avLst/>
          </a:prstGeom>
          <a:solidFill>
            <a:srgbClr val="E8EE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3941064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785616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NeighborWho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54480" y="405079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records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3938" y="3474720"/>
            <a:ext cx="342381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58258" y="3813048"/>
            <a:ext cx="457200" cy="457200"/>
          </a:xfrm>
          <a:prstGeom prst="ellipse">
            <a:avLst/>
          </a:prstGeom>
          <a:solidFill>
            <a:srgbClr val="E8EE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274" y="3941064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2618" y="3785616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PeopleLooker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252618" y="405079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reports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82077" y="3474720"/>
            <a:ext cx="342381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6397" y="3813048"/>
            <a:ext cx="457200" cy="457200"/>
          </a:xfrm>
          <a:prstGeom prst="ellipse">
            <a:avLst/>
          </a:prstGeom>
          <a:solidFill>
            <a:srgbClr val="E8EE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4413" y="3941064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50757" y="3785616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NumberGuru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950757" y="405079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lookup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85800" y="4800600"/>
            <a:ext cx="342381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960120" y="5138928"/>
            <a:ext cx="457200" cy="457200"/>
          </a:xfrm>
          <a:prstGeom prst="ellipse">
            <a:avLst/>
          </a:prstGeom>
          <a:solidFill>
            <a:srgbClr val="E8EEF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" y="5266944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54480" y="5111496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PeopleSmart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1554480" y="537667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discovery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383938" y="4800600"/>
            <a:ext cx="342381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658258" y="5138928"/>
            <a:ext cx="457200" cy="457200"/>
          </a:xfrm>
          <a:prstGeom prst="ellipse">
            <a:avLst/>
          </a:prstGeom>
          <a:solidFill>
            <a:srgbClr val="E8EEFF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274" y="5266944"/>
            <a:ext cx="201168" cy="20116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52618" y="5111496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ReversePhone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5252618" y="537667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ID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8082077" y="4800600"/>
            <a:ext cx="342381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356397" y="5138928"/>
            <a:ext cx="457200" cy="457200"/>
          </a:xfrm>
          <a:prstGeom prst="ellipse">
            <a:avLst/>
          </a:prstGeom>
          <a:solidFill>
            <a:srgbClr val="E8EEFF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4413" y="5266944"/>
            <a:ext cx="201168" cy="20116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50757" y="5111496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MoneyBot5000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8950757" y="537667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25780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BD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96012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metrics we run on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85800" y="2377440"/>
            <a:ext cx="3362858" cy="2606040"/>
          </a:xfrm>
          <a:prstGeom prst="roundRect">
            <a:avLst>
              <a:gd name="adj" fmla="val 4211"/>
            </a:avLst>
          </a:prstGeom>
          <a:solidFill>
            <a:srgbClr val="16294A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2606040"/>
            <a:ext cx="26313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2BD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1051560" y="3675888"/>
            <a:ext cx="263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BRANDS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51560" y="4005072"/>
            <a:ext cx="2631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vehicle, property and phone products under one roof.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14418" y="2377440"/>
            <a:ext cx="3362858" cy="2606040"/>
          </a:xfrm>
          <a:prstGeom prst="roundRect">
            <a:avLst>
              <a:gd name="adj" fmla="val 4211"/>
            </a:avLst>
          </a:prstGeom>
          <a:solidFill>
            <a:srgbClr val="16294A"/>
          </a:solidFill>
          <a:ln/>
        </p:spPr>
      </p:sp>
      <p:sp>
        <p:nvSpPr>
          <p:cNvPr id="10" name="Text 7"/>
          <p:cNvSpPr/>
          <p:nvPr/>
        </p:nvSpPr>
        <p:spPr>
          <a:xfrm>
            <a:off x="4780178" y="2606040"/>
            <a:ext cx="26313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4780178" y="3675888"/>
            <a:ext cx="263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FOUNDED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80178" y="4005072"/>
            <a:ext cx="2631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two decades building in the public-data category.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43037" y="2377440"/>
            <a:ext cx="3362858" cy="2606040"/>
          </a:xfrm>
          <a:prstGeom prst="roundRect">
            <a:avLst>
              <a:gd name="adj" fmla="val 4211"/>
            </a:avLst>
          </a:prstGeom>
          <a:solidFill>
            <a:srgbClr val="16294A"/>
          </a:solidFill>
          <a:ln/>
        </p:spPr>
      </p:sp>
      <p:sp>
        <p:nvSpPr>
          <p:cNvPr id="14" name="Text 11"/>
          <p:cNvSpPr/>
          <p:nvPr/>
        </p:nvSpPr>
        <p:spPr>
          <a:xfrm>
            <a:off x="8508797" y="2606040"/>
            <a:ext cx="26313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8508797" y="3675888"/>
            <a:ext cx="263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REMOTE-FIRST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08797" y="4005072"/>
            <a:ext cx="2631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team across the US and Costa Rica.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across the portfolio</a:t>
            </a:r>
            <a:endParaRPr lang="en-US" sz="4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201168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2011680"/>
            <a:ext cx="3410712" cy="3977640"/>
          </a:xfrm>
          <a:prstGeom prst="roundRect">
            <a:avLst>
              <a:gd name="adj" fmla="val 3217"/>
            </a:avLst>
          </a:prstGeom>
          <a:solidFill>
            <a:srgbClr val="F5F8FC"/>
          </a:solidFill>
          <a:ln/>
          <a:effectLst>
            <a:outerShdw sx="100000" sy="100000" kx="0" ky="0" algn="bl" rotWithShape="0" blurRad="152400" dist="50800" dir="5400000">
              <a:srgbClr val="0A1628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0" y="2331720"/>
            <a:ext cx="566928" cy="566928"/>
          </a:xfrm>
          <a:prstGeom prst="ellipse">
            <a:avLst/>
          </a:prstGeom>
          <a:solidFill>
            <a:srgbClr val="E2FA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220" y="2490460"/>
            <a:ext cx="249448" cy="2494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0" y="3063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412480" y="3401568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straight quarters of growth, with the steepest lift in the most recent two as the property and vehicle products compounded.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412480" y="46634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2BD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+97%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8412480" y="52852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F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SIX-QUARTER GROWTH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5440680"/>
            <a:ext cx="256032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5836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85800" y="96012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people can actually use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records are scattered across thousands of sources, in formats nobody outside the industry can read. The value isn't in holding the data — it's in the moment someone gets a clear answer.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" y="3840480"/>
            <a:ext cx="457200" cy="457200"/>
          </a:xfrm>
          <a:prstGeom prst="ellipse">
            <a:avLst/>
          </a:prstGeom>
          <a:solidFill>
            <a:srgbClr val="E2FA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96849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44168" y="38221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44168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public sources, continuously refreshed.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E2FAF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79145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44168" y="46451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344168" y="49011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and de-duplicated into a single record.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5486400"/>
            <a:ext cx="457200" cy="457200"/>
          </a:xfrm>
          <a:prstGeom prst="ellipse">
            <a:avLst/>
          </a:prstGeom>
          <a:solidFill>
            <a:srgbClr val="E2FAF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61441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44168" y="54681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344168" y="572414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so a non-expert understands it in seconds.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635240" y="2286000"/>
            <a:ext cx="822960" cy="822960"/>
          </a:xfrm>
          <a:prstGeom prst="ellipse">
            <a:avLst/>
          </a:prstGeom>
          <a:solidFill>
            <a:srgbClr val="16294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669" y="2516429"/>
            <a:ext cx="362102" cy="36210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635240" y="33375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or product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goes here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635240" y="43434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panel with a full-bleed screenshot or photo. Keep the text overlay inside the left 3.5 inches of the panel.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principles behind the 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0820095" cy="694944"/>
          </a:xfrm>
          <a:prstGeom prst="roundRect">
            <a:avLst>
              <a:gd name="adj" fmla="val 15789"/>
            </a:avLst>
          </a:prstGeom>
          <a:solidFill>
            <a:srgbClr val="F5F8FC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" y="2130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5856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Try, fail, learn, repeat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29200" y="2103120"/>
            <a:ext cx="6248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ship, measure and iterate rather than wait for certainty.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2816352"/>
            <a:ext cx="10820095" cy="694944"/>
          </a:xfrm>
          <a:prstGeom prst="roundRect">
            <a:avLst>
              <a:gd name="adj" fmla="val 15789"/>
            </a:avLst>
          </a:prstGeom>
          <a:solidFill>
            <a:srgbClr val="F5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905256" y="29352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06324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everything, respectfully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029200" y="2907792"/>
            <a:ext cx="6248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get challenged on merit; people get treated well.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3621024"/>
            <a:ext cx="10820095" cy="694944"/>
          </a:xfrm>
          <a:prstGeom prst="roundRect">
            <a:avLst>
              <a:gd name="adj" fmla="val 15789"/>
            </a:avLst>
          </a:prstGeom>
          <a:solidFill>
            <a:srgbClr val="F5F8FC"/>
          </a:solidFill>
          <a:ln/>
        </p:spPr>
      </p:sp>
      <p:sp>
        <p:nvSpPr>
          <p:cNvPr id="15" name="Shape 11"/>
          <p:cNvSpPr/>
          <p:nvPr/>
        </p:nvSpPr>
        <p:spPr>
          <a:xfrm>
            <a:off x="905256" y="37398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867912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12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has a voice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029200" y="3712464"/>
            <a:ext cx="6248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experience is how we catch what one perspective misses.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85800" y="4425696"/>
            <a:ext cx="10820095" cy="694944"/>
          </a:xfrm>
          <a:prstGeom prst="roundRect">
            <a:avLst>
              <a:gd name="adj" fmla="val 15789"/>
            </a:avLst>
          </a:prstGeom>
          <a:solidFill>
            <a:srgbClr val="F5F8FC"/>
          </a:solidFill>
          <a:ln/>
        </p:spPr>
      </p:sp>
      <p:sp>
        <p:nvSpPr>
          <p:cNvPr id="20" name="Shape 15"/>
          <p:cNvSpPr/>
          <p:nvPr/>
        </p:nvSpPr>
        <p:spPr>
          <a:xfrm>
            <a:off x="905256" y="45445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672584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517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customer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029200" y="4517136"/>
            <a:ext cx="6248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privacy come before short-term conversion.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85800" y="5230368"/>
            <a:ext cx="10820095" cy="694944"/>
          </a:xfrm>
          <a:prstGeom prst="roundRect">
            <a:avLst>
              <a:gd name="adj" fmla="val 15789"/>
            </a:avLst>
          </a:prstGeom>
          <a:solidFill>
            <a:srgbClr val="F5F8FC"/>
          </a:solidFill>
          <a:ln/>
        </p:spPr>
      </p:sp>
      <p:sp>
        <p:nvSpPr>
          <p:cNvPr id="25" name="Shape 19"/>
          <p:cNvSpPr/>
          <p:nvPr/>
        </p:nvSpPr>
        <p:spPr>
          <a:xfrm>
            <a:off x="905256" y="5349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5477256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321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people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029200" y="5321808"/>
            <a:ext cx="6248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development plans and internal leadership paths.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work sequences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918297" y="2779776"/>
            <a:ext cx="8355101" cy="18288"/>
          </a:xfrm>
          <a:prstGeom prst="rect">
            <a:avLst/>
          </a:prstGeom>
          <a:solidFill>
            <a:srgbClr val="DCE4F0"/>
          </a:solidFill>
          <a:ln/>
        </p:spPr>
      </p:sp>
      <p:sp>
        <p:nvSpPr>
          <p:cNvPr id="5" name="Shape 3"/>
          <p:cNvSpPr/>
          <p:nvPr/>
        </p:nvSpPr>
        <p:spPr>
          <a:xfrm>
            <a:off x="1662265" y="2532888"/>
            <a:ext cx="512064" cy="512064"/>
          </a:xfrm>
          <a:prstGeom prst="ellipse">
            <a:avLst/>
          </a:prstGeom>
          <a:solidFill>
            <a:srgbClr val="1B5CFF"/>
          </a:solidFill>
          <a:ln w="25400">
            <a:solidFill>
              <a:srgbClr val="1B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2265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2464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3840480"/>
            <a:ext cx="2464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5528" y="4261104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sources, size the opportunity, agree success metrics.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47299" y="2532888"/>
            <a:ext cx="512064" cy="512064"/>
          </a:xfrm>
          <a:prstGeom prst="ellipse">
            <a:avLst/>
          </a:prstGeom>
          <a:solidFill>
            <a:srgbClr val="1B5CFF"/>
          </a:solidFill>
          <a:ln w="25400">
            <a:solidFill>
              <a:srgbClr val="1B5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7299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0834" y="3566160"/>
            <a:ext cx="2464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0834" y="3840480"/>
            <a:ext cx="2464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80562" y="4261104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first working version to a limited audience.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32333" y="253288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2333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55868" y="3566160"/>
            <a:ext cx="2464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55868" y="3840480"/>
            <a:ext cx="2464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65596" y="4261104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 and harden the ingestion pipeline.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17366" y="253288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17366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40901" y="3566160"/>
            <a:ext cx="2464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40901" y="3840480"/>
            <a:ext cx="2464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50629" y="4261104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conversion, cost per record and retention.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vs. where we're going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5272888" cy="3931920"/>
          </a:xfrm>
          <a:prstGeom prst="roundRect">
            <a:avLst>
              <a:gd name="adj" fmla="val 2791"/>
            </a:avLst>
          </a:prstGeom>
          <a:solidFill>
            <a:srgbClr val="F5F8FC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286000"/>
            <a:ext cx="454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F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2578608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60" kern="0" dirty="0">
                <a:solidFill>
                  <a:srgbClr val="5F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</a:t>
            </a:r>
            <a:endParaRPr lang="en-US" sz="2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340614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2461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brand maintains its own data pipeline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40279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867912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ingestion cost across products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64972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4489704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record quality between brands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271516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5111496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launch anything new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233008" y="2011680"/>
            <a:ext cx="5272888" cy="3931920"/>
          </a:xfrm>
          <a:prstGeom prst="roundRect">
            <a:avLst>
              <a:gd name="adj" fmla="val 2791"/>
            </a:avLst>
          </a:prstGeom>
          <a:solidFill>
            <a:srgbClr val="E2FAF2"/>
          </a:solidFill>
          <a:ln w="12700">
            <a:solidFill>
              <a:srgbClr val="2BD9A4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6598768" y="2286000"/>
            <a:ext cx="454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BD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6598768" y="2578608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60" kern="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</a:t>
            </a:r>
            <a:endParaRPr lang="en-US" sz="2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056" y="340614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18808" y="32461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ingestion and resolution layer</a:t>
            </a:r>
            <a:endParaRPr lang="en-US" sz="12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056" y="4027932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18808" y="3867912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per new brand approaches zero</a:t>
            </a:r>
            <a:endParaRPr lang="en-US" sz="12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056" y="4649724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18808" y="4489704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quality bar every product inherits</a:t>
            </a:r>
            <a:endParaRPr lang="en-US" sz="12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7056" y="5271516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918808" y="5111496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launch in weeks, not quarters</a:t>
            </a:r>
            <a:endParaRPr lang="en-US" sz="1250" dirty="0"/>
          </a:p>
        </p:txBody>
      </p:sp>
      <p:sp>
        <p:nvSpPr>
          <p:cNvPr id="26" name="Text 16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driving this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2430704" cy="3703320"/>
          </a:xfrm>
          <a:prstGeom prst="roundRect">
            <a:avLst>
              <a:gd name="adj" fmla="val 4514"/>
            </a:avLst>
          </a:prstGeom>
          <a:solidFill>
            <a:srgbClr val="F5F8FC"/>
          </a:solidFill>
          <a:ln/>
        </p:spPr>
      </p:sp>
      <p:sp>
        <p:nvSpPr>
          <p:cNvPr id="5" name="Shape 3"/>
          <p:cNvSpPr/>
          <p:nvPr/>
        </p:nvSpPr>
        <p:spPr>
          <a:xfrm>
            <a:off x="1123912" y="251460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912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215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Last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681728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82264" y="2057400"/>
            <a:ext cx="2430704" cy="3703320"/>
          </a:xfrm>
          <a:prstGeom prst="roundRect">
            <a:avLst>
              <a:gd name="adj" fmla="val 4514"/>
            </a:avLst>
          </a:prstGeom>
          <a:solidFill>
            <a:srgbClr val="F5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3920376" y="251460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D9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20376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D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19424" y="4343400"/>
            <a:ext cx="215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Last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9424" y="4681728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8728" y="2057400"/>
            <a:ext cx="2430704" cy="3703320"/>
          </a:xfrm>
          <a:prstGeom prst="roundRect">
            <a:avLst>
              <a:gd name="adj" fmla="val 4514"/>
            </a:avLst>
          </a:prstGeom>
          <a:solidFill>
            <a:srgbClr val="F5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716839" y="251460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6839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15888" y="4343400"/>
            <a:ext cx="215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Last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5888" y="4681728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Product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75191" y="2057400"/>
            <a:ext cx="2430704" cy="3703320"/>
          </a:xfrm>
          <a:prstGeom prst="roundRect">
            <a:avLst>
              <a:gd name="adj" fmla="val 4514"/>
            </a:avLst>
          </a:prstGeom>
          <a:solidFill>
            <a:srgbClr val="F5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513303" y="251460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5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13303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212351" y="4343400"/>
            <a:ext cx="215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Last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12351" y="4681728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Data Engineering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438912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1508760"/>
            <a:ext cx="731520" cy="731520"/>
          </a:xfrm>
          <a:prstGeom prst="ellipse">
            <a:avLst/>
          </a:prstGeom>
          <a:solidFill>
            <a:srgbClr val="16294A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26" y="1713586"/>
            <a:ext cx="321869" cy="32186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2606040"/>
            <a:ext cx="9326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develop a diverse portfolio of technologies, products, and services that gives all people equal access to unbiased data and information.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8580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D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Lifetime Value Company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85800" y="5321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statement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at a glance</a:t>
            </a:r>
            <a:endParaRPr lang="en-US" sz="4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57400"/>
          <a:ext cx="108200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1920240"/>
                <a:gridCol w="1737360"/>
                <a:gridCol w="204185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BeenVerified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Last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Bumper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Last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Last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NeighborWho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Last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MoneyBot5000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Last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5120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internal reporting. Replace with your own figures and cite the system of record.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 and type scale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635709" cy="137160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832104" y="2761488"/>
            <a:ext cx="13431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" y="2999232"/>
            <a:ext cx="13431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#0A1628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22677" y="2011680"/>
            <a:ext cx="1635709" cy="1371600"/>
          </a:xfrm>
          <a:prstGeom prst="roundRect">
            <a:avLst>
              <a:gd name="adj" fmla="val 6667"/>
            </a:avLst>
          </a:prstGeom>
          <a:solidFill>
            <a:srgbClr val="1B5CFF"/>
          </a:solidFill>
          <a:ln/>
        </p:spPr>
      </p:sp>
      <p:sp>
        <p:nvSpPr>
          <p:cNvPr id="8" name="Text 6"/>
          <p:cNvSpPr/>
          <p:nvPr/>
        </p:nvSpPr>
        <p:spPr>
          <a:xfrm>
            <a:off x="2668981" y="2761488"/>
            <a:ext cx="13431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68981" y="2999232"/>
            <a:ext cx="13431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#1B5CFF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59554" y="2011680"/>
            <a:ext cx="1635709" cy="1371600"/>
          </a:xfrm>
          <a:prstGeom prst="roundRect">
            <a:avLst>
              <a:gd name="adj" fmla="val 6667"/>
            </a:avLst>
          </a:prstGeom>
          <a:solidFill>
            <a:srgbClr val="2BD9A4"/>
          </a:solidFill>
          <a:ln/>
        </p:spPr>
      </p:sp>
      <p:sp>
        <p:nvSpPr>
          <p:cNvPr id="11" name="Text 9"/>
          <p:cNvSpPr/>
          <p:nvPr/>
        </p:nvSpPr>
        <p:spPr>
          <a:xfrm>
            <a:off x="4505858" y="2761488"/>
            <a:ext cx="13431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05858" y="2999232"/>
            <a:ext cx="13431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#2BD9A4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6432" y="2011680"/>
            <a:ext cx="1635709" cy="1371600"/>
          </a:xfrm>
          <a:prstGeom prst="roundRect">
            <a:avLst>
              <a:gd name="adj" fmla="val 6667"/>
            </a:avLst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6342736" y="2761488"/>
            <a:ext cx="13431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2736" y="2999232"/>
            <a:ext cx="13431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#FFB020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33309" y="2011680"/>
            <a:ext cx="1635709" cy="1371600"/>
          </a:xfrm>
          <a:prstGeom prst="roundRect">
            <a:avLst>
              <a:gd name="adj" fmla="val 6667"/>
            </a:avLst>
          </a:prstGeom>
          <a:solidFill>
            <a:srgbClr val="F5F8FC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9613" y="2761488"/>
            <a:ext cx="13431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79613" y="2999232"/>
            <a:ext cx="13431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#F5F8FC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870186" y="2011680"/>
            <a:ext cx="1635709" cy="1371600"/>
          </a:xfrm>
          <a:prstGeom prst="roundRect">
            <a:avLst>
              <a:gd name="adj" fmla="val 6667"/>
            </a:avLst>
          </a:prstGeom>
          <a:solidFill>
            <a:srgbClr val="DCE4F0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16490" y="2761488"/>
            <a:ext cx="13431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16490" y="2999232"/>
            <a:ext cx="13431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#DCE4F0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6118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SCALE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977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— Arial Bold 50pt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5800" y="437997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 — Arial Bold 40pt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" y="47823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header — Arial Bold 20pt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51846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copy — Calibri Regular 14pt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55869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— Calibri Regular 11pt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3566160"/>
            <a:ext cx="4556455" cy="2423160"/>
          </a:xfrm>
          <a:prstGeom prst="roundRect">
            <a:avLst>
              <a:gd name="adj" fmla="val 4528"/>
            </a:avLst>
          </a:prstGeom>
          <a:solidFill>
            <a:srgbClr val="F5F8FC"/>
          </a:solidFill>
          <a:ln/>
        </p:spPr>
      </p:sp>
      <p:sp>
        <p:nvSpPr>
          <p:cNvPr id="29" name="Text 27"/>
          <p:cNvSpPr/>
          <p:nvPr/>
        </p:nvSpPr>
        <p:spPr>
          <a:xfrm>
            <a:off x="7269480" y="3767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69480" y="4069080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carries the dark slides: cover, section, quote, closing.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is the working accent for kickers, numbers and charts.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is the sharp accent — one moment per slide.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is for data only, never body text.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0.75in margins and 0.3in between blocks.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·  ltvco.com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657600"/>
            <a:ext cx="3474720" cy="3474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1488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</a:t>
            </a:r>
            <a:pPr indent="0" marL="0">
              <a:buNone/>
            </a:pPr>
            <a:r>
              <a:rPr lang="en-US" sz="5000" b="1" spc="-120" kern="0" dirty="0">
                <a:solidFill>
                  <a:srgbClr val="2BD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685800" y="33101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or want the underlying data? Get in touch.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5800" y="4114800"/>
            <a:ext cx="493776" cy="493776"/>
          </a:xfrm>
          <a:prstGeom prst="ellipse">
            <a:avLst/>
          </a:prstGeom>
          <a:solidFill>
            <a:srgbClr val="16294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057" y="4253057"/>
            <a:ext cx="217261" cy="2172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99032" y="411480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ltvco.com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85800" y="4828032"/>
            <a:ext cx="493776" cy="493776"/>
          </a:xfrm>
          <a:prstGeom prst="ellipse">
            <a:avLst/>
          </a:prstGeom>
          <a:solidFill>
            <a:srgbClr val="16294A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" y="4966289"/>
            <a:ext cx="217261" cy="2172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99032" y="4828032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hello@ltvco.com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8580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LIFETIME VALUE COMPANY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The Lifetime Value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LTV — Presentation Boilerplate</dc:title>
  <dc:subject>PptxGenJS Presentation</dc:subject>
  <dc:creator>The Lifetime Value Company</dc:creator>
  <cp:lastModifiedBy>The Lifetime Value Company</cp:lastModifiedBy>
  <cp:revision>1</cp:revision>
  <dcterms:created xsi:type="dcterms:W3CDTF">2026-08-07T16:47:37Z</dcterms:created>
  <dcterms:modified xsi:type="dcterms:W3CDTF">2026-08-07T16:47:37Z</dcterms:modified>
</cp:coreProperties>
</file>