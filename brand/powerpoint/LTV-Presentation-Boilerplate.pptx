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active users (M)</c:v>
                </c:pt>
              </c:strCache>
            </c:strRef>
          </c:tx>
          <c:spPr>
            <a:solidFill>
              <a:srgbClr val="1B5CF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F708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Q1</c:v>
                  </c:pt>
                  <c:pt idx="5">
                    <c:v>Q2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</c:v>
                </c:pt>
                <c:pt idx="1">
                  <c:v>3.6</c:v>
                </c:pt>
                <c:pt idx="2">
                  <c:v>4.2</c:v>
                </c:pt>
                <c:pt idx="3">
                  <c:v>4.5</c:v>
                </c:pt>
                <c:pt idx="4">
                  <c:v>5.3</c:v>
                </c:pt>
                <c:pt idx="5">
                  <c:v>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5F708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8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</c:scaling>
        <c:delete val="0"/>
        <c:axPos val="l"/>
        <c:majorGridlines>
          <c:spPr>
            <a:ln w="12700" cap="flat">
              <a:solidFill>
                <a:srgbClr val="DCE4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8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slide. Replace the headline with your deck title and update the date line. The mint half of the headline is the accent — keep it to two or three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layout. Six numbered items in two columns — drop rows you don't need and the grid still 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Duplicate this slide for each new section and bump the section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Text-plus-stats layout. The four stat cards work equally well as a standalone KPI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grid. Swap in logos by replacing the icon chip with an image at the same coordinates.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KPI slide. Three is the sweet spot — four fits, five gets cramped.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Native PowerPoint chart — click it to edit the data directly. Always pair a chart with the one sentence it 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Half-bleed panel layout. Drop an image over the dark rectangle at x=7.6, y=0, w=5.73, h=7.5 for a full-bleed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Icon-row list. Works for values, principles, feature lists or requirements — up to five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layout. Filled markers are complete or in-flight; outlined markers are upcoming.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Two-column comparison. The tinted card is the recommendation — only ever tint one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layout. Replace the initial circles with cropped headshots at the same 1.5 inch diameter.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/ statement slide. Keep it under 30 words so the type can stay large.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Native table. Header row uses the ink fill; body rows alternate white and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slide. Delete it before sending a deck externally, or keep it as the last page of an internal template.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Update the contact lines; the dark treatment bookends the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3246120"/>
            <a:ext cx="3657600" cy="3657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1389888" y="749808"/>
            <a:ext cx="137160" cy="137160"/>
          </a:xfrm>
          <a:prstGeom prst="ellipse">
            <a:avLst/>
          </a:prstGeom>
          <a:solidFill>
            <a:srgbClr val="2BD9A4"/>
          </a:solidFill>
          <a:ln/>
        </p:spPr>
      </p:sp>
      <p:sp>
        <p:nvSpPr>
          <p:cNvPr id="5" name="Text 2"/>
          <p:cNvSpPr/>
          <p:nvPr/>
        </p:nvSpPr>
        <p:spPr>
          <a:xfrm>
            <a:off x="1664208" y="5669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9D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LIFETIME VALUE COMPANY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224028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Everyday </a:t>
            </a:r>
            <a:pPr indent="0" marL="0">
              <a:lnSpc>
                <a:spcPts val="5600"/>
              </a:lnSpc>
              <a:buNone/>
            </a:pPr>
            <a:r>
              <a:rPr lang="en-US" sz="5000" b="1" spc="-120" kern="0" dirty="0">
                <a:solidFill>
                  <a:srgbClr val="2BD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Data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685800" y="4315968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ready-to-use presentation system: cover, section, content, data and closing layouts built on the LTV palette and type scale.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title  ·  Month Year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we'll cover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30352" cy="530352"/>
          </a:xfrm>
          <a:prstGeom prst="ellipse">
            <a:avLst/>
          </a:prstGeom>
          <a:solidFill>
            <a:srgbClr val="E8EE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1488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35608" y="21305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35608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Company, mission and how we're structured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2148840"/>
            <a:ext cx="530352" cy="530352"/>
          </a:xfrm>
          <a:prstGeom prst="ellipse">
            <a:avLst/>
          </a:prstGeom>
          <a:solidFill>
            <a:srgbClr val="E8EE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21488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50608" y="21305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brands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50608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consumer portfolio and what each one does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530352" cy="530352"/>
          </a:xfrm>
          <a:prstGeom prst="ellipse">
            <a:avLst/>
          </a:prstGeom>
          <a:solidFill>
            <a:srgbClr val="E8EEFF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4015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35608" y="3383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35608" y="36758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context and where we're heading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401568"/>
            <a:ext cx="530352" cy="530352"/>
          </a:xfrm>
          <a:prstGeom prst="ellipse">
            <a:avLst/>
          </a:prstGeom>
          <a:solidFill>
            <a:srgbClr val="E8EE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34015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50608" y="3383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150608" y="36758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Metrics, trends and what they tell us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654296"/>
            <a:ext cx="530352" cy="530352"/>
          </a:xfrm>
          <a:prstGeom prst="ellipse">
            <a:avLst/>
          </a:prstGeom>
          <a:solidFill>
            <a:srgbClr val="E8EE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654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35608" y="46360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35608" y="49286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Values, process and operating principles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0" y="4654296"/>
            <a:ext cx="530352" cy="530352"/>
          </a:xfrm>
          <a:prstGeom prst="ellipse">
            <a:avLst/>
          </a:prstGeom>
          <a:solidFill>
            <a:srgbClr val="E8EE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4654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150608" y="46360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50608" y="49286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 and owners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393192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80" kern="0" dirty="0">
                <a:solidFill>
                  <a:srgbClr val="2BD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85800" y="272491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379476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technology company built around one idea — public data should be easy for anyone to find, understand and act on.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data, made usable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22860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build web and app products that put public data into people's hands — information about people, homes, vehicles and businesses that was always public, but never practical to use.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35661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in 2007 and remote-first, we operate a portfolio of consumer brands used by millions of people to get answers about the world around them.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4709160"/>
            <a:ext cx="566928" cy="566928"/>
          </a:xfrm>
          <a:prstGeom prst="ellipse">
            <a:avLst/>
          </a:prstGeom>
          <a:solidFill>
            <a:srgbClr val="E2FA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540" y="4867900"/>
            <a:ext cx="249448" cy="2494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46817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mission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63040" y="4956048"/>
            <a:ext cx="4251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develop a diverse portfolio of technologies, products, and services that gives all people equal access to unbiased data and information.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35040" y="1783080"/>
            <a:ext cx="2598268" cy="173736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309360" y="2148840"/>
            <a:ext cx="2049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2007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6309360" y="2880360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907628" y="1783080"/>
            <a:ext cx="2598268" cy="173736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181948" y="2148840"/>
            <a:ext cx="2049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2BD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181948" y="2880360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BRANDS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35040" y="3794760"/>
            <a:ext cx="2598268" cy="173736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309360" y="4160520"/>
            <a:ext cx="2049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6309360" y="4892040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REMOTE-FIRST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907628" y="3794760"/>
            <a:ext cx="2598268" cy="173736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181948" y="4160520"/>
            <a:ext cx="2049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Millions</a:t>
            </a:r>
            <a:endParaRPr lang="en-US" sz="3400" dirty="0"/>
          </a:p>
        </p:txBody>
      </p:sp>
      <p:sp>
        <p:nvSpPr>
          <p:cNvPr id="21" name="Text 18"/>
          <p:cNvSpPr/>
          <p:nvPr/>
        </p:nvSpPr>
        <p:spPr>
          <a:xfrm>
            <a:off x="9181948" y="4892040"/>
            <a:ext cx="20496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SERVED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BRANDS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portfolio, nine front doors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3423818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E8EE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259689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441448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BeenVerified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54480" y="2706624"/>
            <a:ext cx="2280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search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83938" y="2148840"/>
            <a:ext cx="3423818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58258" y="2468880"/>
            <a:ext cx="457200" cy="457200"/>
          </a:xfrm>
          <a:prstGeom prst="ellipse">
            <a:avLst/>
          </a:prstGeom>
          <a:solidFill>
            <a:srgbClr val="E8EE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274" y="259689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52618" y="2441448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Bumper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252618" y="2706624"/>
            <a:ext cx="2280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history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082077" y="2148840"/>
            <a:ext cx="3423818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56397" y="2468880"/>
            <a:ext cx="457200" cy="457200"/>
          </a:xfrm>
          <a:prstGeom prst="ellipse">
            <a:avLst/>
          </a:prstGeom>
          <a:solidFill>
            <a:srgbClr val="E8EE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4413" y="2596896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50757" y="2441448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Ownerly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950757" y="2706624"/>
            <a:ext cx="2280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value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85800" y="3520440"/>
            <a:ext cx="3423818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60120" y="3840480"/>
            <a:ext cx="457200" cy="457200"/>
          </a:xfrm>
          <a:prstGeom prst="ellipse">
            <a:avLst/>
          </a:prstGeom>
          <a:solidFill>
            <a:srgbClr val="E8EE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3968496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54480" y="3813048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NeighborWho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1554480" y="4078224"/>
            <a:ext cx="2280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records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383938" y="3520440"/>
            <a:ext cx="3423818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58258" y="3840480"/>
            <a:ext cx="457200" cy="457200"/>
          </a:xfrm>
          <a:prstGeom prst="ellipse">
            <a:avLst/>
          </a:prstGeom>
          <a:solidFill>
            <a:srgbClr val="E8EEF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6274" y="3968496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52618" y="3813048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PeopleLooker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5252618" y="4078224"/>
            <a:ext cx="2280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reports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082077" y="3520440"/>
            <a:ext cx="3423818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56397" y="3840480"/>
            <a:ext cx="457200" cy="457200"/>
          </a:xfrm>
          <a:prstGeom prst="ellipse">
            <a:avLst/>
          </a:prstGeom>
          <a:solidFill>
            <a:srgbClr val="E8EE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4413" y="3968496"/>
            <a:ext cx="201168" cy="20116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50757" y="3813048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NumberGuru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950757" y="4078224"/>
            <a:ext cx="2280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lookup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685800" y="4892040"/>
            <a:ext cx="3423818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960120" y="5212080"/>
            <a:ext cx="457200" cy="457200"/>
          </a:xfrm>
          <a:prstGeom prst="ellipse">
            <a:avLst/>
          </a:prstGeom>
          <a:solidFill>
            <a:srgbClr val="E8EEFF"/>
          </a:solidFill>
          <a:ln/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8136" y="5340096"/>
            <a:ext cx="201168" cy="201168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554480" y="5184648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PeopleSmart</a:t>
            </a:r>
            <a:endParaRPr lang="en-US" sz="1400" dirty="0"/>
          </a:p>
        </p:txBody>
      </p:sp>
      <p:sp>
        <p:nvSpPr>
          <p:cNvPr id="38" name="Text 29"/>
          <p:cNvSpPr/>
          <p:nvPr/>
        </p:nvSpPr>
        <p:spPr>
          <a:xfrm>
            <a:off x="1554480" y="5449824"/>
            <a:ext cx="2280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discovery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383938" y="4892040"/>
            <a:ext cx="3423818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4658258" y="5212080"/>
            <a:ext cx="457200" cy="457200"/>
          </a:xfrm>
          <a:prstGeom prst="ellipse">
            <a:avLst/>
          </a:prstGeom>
          <a:solidFill>
            <a:srgbClr val="E8EEFF"/>
          </a:solidFill>
          <a:ln/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6274" y="5340096"/>
            <a:ext cx="201168" cy="201168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5252618" y="5184648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ReversePhone</a:t>
            </a:r>
            <a:endParaRPr lang="en-US" sz="1400" dirty="0"/>
          </a:p>
        </p:txBody>
      </p:sp>
      <p:sp>
        <p:nvSpPr>
          <p:cNvPr id="43" name="Text 33"/>
          <p:cNvSpPr/>
          <p:nvPr/>
        </p:nvSpPr>
        <p:spPr>
          <a:xfrm>
            <a:off x="5252618" y="5449824"/>
            <a:ext cx="2280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ID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8082077" y="4892040"/>
            <a:ext cx="3423818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45" name="Shape 35"/>
          <p:cNvSpPr/>
          <p:nvPr/>
        </p:nvSpPr>
        <p:spPr>
          <a:xfrm>
            <a:off x="8356397" y="5212080"/>
            <a:ext cx="457200" cy="457200"/>
          </a:xfrm>
          <a:prstGeom prst="ellipse">
            <a:avLst/>
          </a:prstGeom>
          <a:solidFill>
            <a:srgbClr val="E8EEFF"/>
          </a:solidFill>
          <a:ln/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84413" y="5340096"/>
            <a:ext cx="201168" cy="201168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8950757" y="5184648"/>
            <a:ext cx="2280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MoneyBot5000</a:t>
            </a:r>
            <a:endParaRPr lang="en-US" sz="1400" dirty="0"/>
          </a:p>
        </p:txBody>
      </p:sp>
      <p:sp>
        <p:nvSpPr>
          <p:cNvPr id="48" name="Text 37"/>
          <p:cNvSpPr/>
          <p:nvPr/>
        </p:nvSpPr>
        <p:spPr>
          <a:xfrm>
            <a:off x="8950757" y="5449824"/>
            <a:ext cx="2280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finance</a:t>
            </a:r>
            <a:endParaRPr lang="en-US" sz="1100" dirty="0"/>
          </a:p>
        </p:txBody>
      </p:sp>
      <p:sp>
        <p:nvSpPr>
          <p:cNvPr id="49" name="Text 38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257800"/>
            <a:ext cx="2377440" cy="2377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BD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85800" y="96012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metrics we run on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377440"/>
            <a:ext cx="3362858" cy="2606040"/>
          </a:xfrm>
          <a:prstGeom prst="roundRect">
            <a:avLst>
              <a:gd name="adj" fmla="val 4211"/>
            </a:avLst>
          </a:prstGeom>
          <a:solidFill>
            <a:srgbClr val="16294A"/>
          </a:solidFill>
          <a:ln/>
        </p:spPr>
      </p:sp>
      <p:sp>
        <p:nvSpPr>
          <p:cNvPr id="6" name="Text 3"/>
          <p:cNvSpPr/>
          <p:nvPr/>
        </p:nvSpPr>
        <p:spPr>
          <a:xfrm>
            <a:off x="1051560" y="2606040"/>
            <a:ext cx="26313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2BD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1051560" y="3675888"/>
            <a:ext cx="2631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D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BRANDS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1560" y="4005072"/>
            <a:ext cx="2631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vehicle, property and phone products under one roof.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14418" y="2377440"/>
            <a:ext cx="3362858" cy="2606040"/>
          </a:xfrm>
          <a:prstGeom prst="roundRect">
            <a:avLst>
              <a:gd name="adj" fmla="val 4211"/>
            </a:avLst>
          </a:prstGeom>
          <a:solidFill>
            <a:srgbClr val="16294A"/>
          </a:solidFill>
          <a:ln/>
        </p:spPr>
      </p:sp>
      <p:sp>
        <p:nvSpPr>
          <p:cNvPr id="10" name="Text 7"/>
          <p:cNvSpPr/>
          <p:nvPr/>
        </p:nvSpPr>
        <p:spPr>
          <a:xfrm>
            <a:off x="4780178" y="2606040"/>
            <a:ext cx="26313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2007</a:t>
            </a:r>
            <a:endParaRPr lang="en-US" sz="6000" dirty="0"/>
          </a:p>
        </p:txBody>
      </p:sp>
      <p:sp>
        <p:nvSpPr>
          <p:cNvPr id="11" name="Text 8"/>
          <p:cNvSpPr/>
          <p:nvPr/>
        </p:nvSpPr>
        <p:spPr>
          <a:xfrm>
            <a:off x="4780178" y="3675888"/>
            <a:ext cx="2631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D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FOUNDED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780178" y="4005072"/>
            <a:ext cx="2631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two decades building in the public-data category.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143037" y="2377440"/>
            <a:ext cx="3362858" cy="2606040"/>
          </a:xfrm>
          <a:prstGeom prst="roundRect">
            <a:avLst>
              <a:gd name="adj" fmla="val 4211"/>
            </a:avLst>
          </a:prstGeom>
          <a:solidFill>
            <a:srgbClr val="16294A"/>
          </a:solidFill>
          <a:ln/>
        </p:spPr>
      </p:sp>
      <p:sp>
        <p:nvSpPr>
          <p:cNvPr id="14" name="Text 11"/>
          <p:cNvSpPr/>
          <p:nvPr/>
        </p:nvSpPr>
        <p:spPr>
          <a:xfrm>
            <a:off x="8508797" y="2606040"/>
            <a:ext cx="26313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6000" dirty="0"/>
          </a:p>
        </p:txBody>
      </p:sp>
      <p:sp>
        <p:nvSpPr>
          <p:cNvPr id="15" name="Text 12"/>
          <p:cNvSpPr/>
          <p:nvPr/>
        </p:nvSpPr>
        <p:spPr>
          <a:xfrm>
            <a:off x="8508797" y="3675888"/>
            <a:ext cx="26313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D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REMOTE-FIRST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508797" y="4005072"/>
            <a:ext cx="2631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distributed team across the US and Costa Rica.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across the portfolio</a:t>
            </a:r>
            <a:endParaRPr lang="en-US" sz="4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85800" y="2011680"/>
          <a:ext cx="7040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2011680"/>
            <a:ext cx="3410712" cy="3977640"/>
          </a:xfrm>
          <a:prstGeom prst="roundRect">
            <a:avLst>
              <a:gd name="adj" fmla="val 3217"/>
            </a:avLst>
          </a:prstGeom>
          <a:solidFill>
            <a:srgbClr val="F5F8FC"/>
          </a:solidFill>
          <a:ln/>
          <a:effectLst>
            <a:outerShdw sx="100000" sy="100000" kx="0" ky="0" algn="bl" rotWithShape="0" blurRad="152400" dist="50800" dir="5400000">
              <a:srgbClr val="0A1628">
                <a:alpha val="7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0" y="2331720"/>
            <a:ext cx="566928" cy="566928"/>
          </a:xfrm>
          <a:prstGeom prst="ellipse">
            <a:avLst/>
          </a:prstGeom>
          <a:solidFill>
            <a:srgbClr val="E2FA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1220" y="2490460"/>
            <a:ext cx="249448" cy="2494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12480" y="306324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shows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8412480" y="3401568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straight quarters of growth, with the steepest lift in the most recent two as the property and vehicle products compounded.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412480" y="46634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2BD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+97%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8412480" y="528523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SIX-QUARTER GROWTH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0A162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5440680"/>
            <a:ext cx="2560320" cy="2560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658368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960120"/>
            <a:ext cx="5577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people can actually use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85800" y="233172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records are scattered across thousands of sources, in formats nobody outside the industry can read. The value isn't in holding the data — it's in the moment someone gets a clear answer.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85800" y="3840480"/>
            <a:ext cx="457200" cy="457200"/>
          </a:xfrm>
          <a:prstGeom prst="ellipse">
            <a:avLst/>
          </a:prstGeom>
          <a:solidFill>
            <a:srgbClr val="E2FAF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3968496"/>
            <a:ext cx="201168" cy="201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44168" y="382219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344168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public sources, continuously refreshed.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E2FAF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479145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44168" y="46451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344168" y="49011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and de-duplicated into a single record.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85800" y="5486400"/>
            <a:ext cx="457200" cy="457200"/>
          </a:xfrm>
          <a:prstGeom prst="ellipse">
            <a:avLst/>
          </a:prstGeom>
          <a:solidFill>
            <a:srgbClr val="E2FAF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5614416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44168" y="54681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1344168" y="572414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so a non-expert understands it in seconds.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7635240" y="2286000"/>
            <a:ext cx="822960" cy="822960"/>
          </a:xfrm>
          <a:prstGeom prst="ellipse">
            <a:avLst/>
          </a:prstGeom>
          <a:solidFill>
            <a:srgbClr val="16294A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5669" y="2516429"/>
            <a:ext cx="362102" cy="36210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635240" y="33375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or product</a:t>
            </a:r>
            <a:endParaRPr lang="en-US" sz="22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 goes here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7635240" y="43434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panel with a full-bleed screenshot or photo. Keep the text overlay inside the left 3.5 inches of the panel.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principles behind the work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10820095" cy="694944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/>
        </p:spPr>
      </p:sp>
      <p:sp>
        <p:nvSpPr>
          <p:cNvPr id="5" name="Shape 3"/>
          <p:cNvSpPr/>
          <p:nvPr/>
        </p:nvSpPr>
        <p:spPr>
          <a:xfrm>
            <a:off x="905256" y="2130552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25856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103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Try, fail, learn, repeat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029200" y="2103120"/>
            <a:ext cx="6248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ship, measure and iterate rather than wait for certainty.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2816352"/>
            <a:ext cx="10820095" cy="694944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/>
        </p:spPr>
      </p:sp>
      <p:sp>
        <p:nvSpPr>
          <p:cNvPr id="10" name="Shape 7"/>
          <p:cNvSpPr/>
          <p:nvPr/>
        </p:nvSpPr>
        <p:spPr>
          <a:xfrm>
            <a:off x="905256" y="2935224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3063240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54480" y="29077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everything, respectfully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029200" y="2907792"/>
            <a:ext cx="6248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get challenged on merit; people get treated well.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85800" y="3621024"/>
            <a:ext cx="10820095" cy="694944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905256" y="3739896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3867912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3712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has a voice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5029200" y="3712464"/>
            <a:ext cx="6248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Diverse experience is how we catch what one perspective misses.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85800" y="4425696"/>
            <a:ext cx="10820095" cy="694944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/>
        </p:spPr>
      </p:sp>
      <p:sp>
        <p:nvSpPr>
          <p:cNvPr id="20" name="Shape 15"/>
          <p:cNvSpPr/>
          <p:nvPr/>
        </p:nvSpPr>
        <p:spPr>
          <a:xfrm>
            <a:off x="905256" y="45445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4672584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54480" y="45171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the customer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5029200" y="4517136"/>
            <a:ext cx="6248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and privacy come before short-term conversion.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85800" y="5230368"/>
            <a:ext cx="10820095" cy="694944"/>
          </a:xfrm>
          <a:prstGeom prst="roundRect">
            <a:avLst>
              <a:gd name="adj" fmla="val 15789"/>
            </a:avLst>
          </a:prstGeom>
          <a:solidFill>
            <a:srgbClr val="F5F8FC"/>
          </a:solidFill>
          <a:ln/>
        </p:spPr>
      </p:sp>
      <p:sp>
        <p:nvSpPr>
          <p:cNvPr id="25" name="Shape 19"/>
          <p:cNvSpPr/>
          <p:nvPr/>
        </p:nvSpPr>
        <p:spPr>
          <a:xfrm>
            <a:off x="905256" y="53492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5477256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554480" y="53218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the people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5029200" y="5321808"/>
            <a:ext cx="6248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development plans and internal leadership paths.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work sequences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918297" y="2779776"/>
            <a:ext cx="8355101" cy="18288"/>
          </a:xfrm>
          <a:prstGeom prst="rect">
            <a:avLst/>
          </a:prstGeom>
          <a:solidFill>
            <a:srgbClr val="DCE4F0"/>
          </a:solidFill>
          <a:ln/>
        </p:spPr>
      </p:sp>
      <p:sp>
        <p:nvSpPr>
          <p:cNvPr id="5" name="Shape 3"/>
          <p:cNvSpPr/>
          <p:nvPr/>
        </p:nvSpPr>
        <p:spPr>
          <a:xfrm>
            <a:off x="1662265" y="2532888"/>
            <a:ext cx="512064" cy="512064"/>
          </a:xfrm>
          <a:prstGeom prst="ellipse">
            <a:avLst/>
          </a:prstGeom>
          <a:solidFill>
            <a:srgbClr val="1B5CFF"/>
          </a:solidFill>
          <a:ln w="25400">
            <a:solidFill>
              <a:srgbClr val="1B5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62265" y="25328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3566160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3840480"/>
            <a:ext cx="24649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95528" y="4261104"/>
            <a:ext cx="22455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sources, size the opportunity, agree success metrics.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47299" y="2532888"/>
            <a:ext cx="512064" cy="512064"/>
          </a:xfrm>
          <a:prstGeom prst="ellipse">
            <a:avLst/>
          </a:prstGeom>
          <a:solidFill>
            <a:srgbClr val="1B5CFF"/>
          </a:solidFill>
          <a:ln w="25400">
            <a:solidFill>
              <a:srgbClr val="1B5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47299" y="25328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0834" y="3566160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70834" y="3840480"/>
            <a:ext cx="24649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580562" y="4261104"/>
            <a:ext cx="22455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first working version to a limited audience.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32333" y="2532888"/>
            <a:ext cx="512064" cy="51206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CE4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32333" y="25328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55868" y="3566160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55868" y="3840480"/>
            <a:ext cx="24649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365596" y="4261104"/>
            <a:ext cx="22455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coverage and harden the ingestion pipeline.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017366" y="2532888"/>
            <a:ext cx="512064" cy="51206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CE4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17366" y="25328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040901" y="3566160"/>
            <a:ext cx="2464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040901" y="3840480"/>
            <a:ext cx="24649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150629" y="4261104"/>
            <a:ext cx="22455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conversion, cost per record and retention.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vs. where we're going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5272888" cy="3931920"/>
          </a:xfrm>
          <a:prstGeom prst="roundRect">
            <a:avLst>
              <a:gd name="adj" fmla="val 2791"/>
            </a:avLst>
          </a:prstGeom>
          <a:solidFill>
            <a:srgbClr val="F5F8FC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286000"/>
            <a:ext cx="454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1560" y="2578608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60" kern="0" dirty="0">
                <a:solidFill>
                  <a:srgbClr val="5F70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</a:t>
            </a:r>
            <a:endParaRPr lang="en-US" sz="2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3406140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324612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brand maintains its own data pipeline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4027932"/>
            <a:ext cx="182880" cy="182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3867912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Duplicated ingestion cost across products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64972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4489704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record quality between brands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271516"/>
            <a:ext cx="182880" cy="1828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5111496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to launch anything new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6233008" y="2011680"/>
            <a:ext cx="5272888" cy="3931920"/>
          </a:xfrm>
          <a:prstGeom prst="roundRect">
            <a:avLst>
              <a:gd name="adj" fmla="val 2791"/>
            </a:avLst>
          </a:prstGeom>
          <a:solidFill>
            <a:srgbClr val="E2FAF2"/>
          </a:solidFill>
          <a:ln w="12700">
            <a:solidFill>
              <a:srgbClr val="2BD9A4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6598768" y="2286000"/>
            <a:ext cx="4541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2BD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6598768" y="2578608"/>
            <a:ext cx="454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6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</a:t>
            </a:r>
            <a:endParaRPr lang="en-US" sz="26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7056" y="340614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918808" y="3246120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ingestion and resolution layer</a:t>
            </a:r>
            <a:endParaRPr lang="en-US" sz="12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7056" y="4027932"/>
            <a:ext cx="182880" cy="1828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18808" y="3867912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 per new brand approaches zero</a:t>
            </a:r>
            <a:endParaRPr lang="en-US" sz="125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7056" y="4649724"/>
            <a:ext cx="182880" cy="1828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918808" y="4489704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quality bar every product inherits</a:t>
            </a:r>
            <a:endParaRPr lang="en-US" sz="125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7056" y="5271516"/>
            <a:ext cx="182880" cy="18288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6918808" y="5111496"/>
            <a:ext cx="422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launch in weeks, not quarters</a:t>
            </a:r>
            <a:endParaRPr lang="en-US" sz="1250" dirty="0"/>
          </a:p>
        </p:txBody>
      </p:sp>
      <p:sp>
        <p:nvSpPr>
          <p:cNvPr id="26" name="Text 16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Who's driving this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2430704" cy="3703320"/>
          </a:xfrm>
          <a:prstGeom prst="roundRect">
            <a:avLst>
              <a:gd name="adj" fmla="val 4514"/>
            </a:avLst>
          </a:prstGeom>
          <a:solidFill>
            <a:srgbClr val="F5F8FC"/>
          </a:solidFill>
          <a:ln/>
        </p:spPr>
      </p:sp>
      <p:sp>
        <p:nvSpPr>
          <p:cNvPr id="5" name="Shape 3"/>
          <p:cNvSpPr/>
          <p:nvPr/>
        </p:nvSpPr>
        <p:spPr>
          <a:xfrm>
            <a:off x="1123912" y="2514600"/>
            <a:ext cx="155448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5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3912" y="25146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22960" y="4343400"/>
            <a:ext cx="215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Last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681728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Executive Officer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82264" y="2057400"/>
            <a:ext cx="2430704" cy="3703320"/>
          </a:xfrm>
          <a:prstGeom prst="roundRect">
            <a:avLst>
              <a:gd name="adj" fmla="val 4514"/>
            </a:avLst>
          </a:prstGeom>
          <a:solidFill>
            <a:srgbClr val="F5F8FC"/>
          </a:solidFill>
          <a:ln/>
        </p:spPr>
      </p:sp>
      <p:sp>
        <p:nvSpPr>
          <p:cNvPr id="10" name="Shape 8"/>
          <p:cNvSpPr/>
          <p:nvPr/>
        </p:nvSpPr>
        <p:spPr>
          <a:xfrm>
            <a:off x="3920376" y="2514600"/>
            <a:ext cx="155448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D9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20376" y="25146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BD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619424" y="4343400"/>
            <a:ext cx="215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Last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19424" y="4681728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Technology Officer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78728" y="2057400"/>
            <a:ext cx="2430704" cy="3703320"/>
          </a:xfrm>
          <a:prstGeom prst="roundRect">
            <a:avLst>
              <a:gd name="adj" fmla="val 4514"/>
            </a:avLst>
          </a:prstGeom>
          <a:solidFill>
            <a:srgbClr val="F5F8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716839" y="2514600"/>
            <a:ext cx="155448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B0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6839" y="25146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415888" y="4343400"/>
            <a:ext cx="215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Last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15888" y="4681728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VP, Product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75191" y="2057400"/>
            <a:ext cx="2430704" cy="3703320"/>
          </a:xfrm>
          <a:prstGeom prst="roundRect">
            <a:avLst>
              <a:gd name="adj" fmla="val 4514"/>
            </a:avLst>
          </a:prstGeom>
          <a:solidFill>
            <a:srgbClr val="F5F8FC"/>
          </a:solidFill>
          <a:ln/>
        </p:spPr>
      </p:sp>
      <p:sp>
        <p:nvSpPr>
          <p:cNvPr id="20" name="Shape 18"/>
          <p:cNvSpPr/>
          <p:nvPr/>
        </p:nvSpPr>
        <p:spPr>
          <a:xfrm>
            <a:off x="9513303" y="2514600"/>
            <a:ext cx="1554480" cy="15544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5C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13303" y="25146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9212351" y="4343400"/>
            <a:ext cx="215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Last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12351" y="4681728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VP, Data Engineering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4389120"/>
            <a:ext cx="2926080" cy="2926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1508760"/>
            <a:ext cx="731520" cy="731520"/>
          </a:xfrm>
          <a:prstGeom prst="ellipse">
            <a:avLst/>
          </a:prstGeom>
          <a:solidFill>
            <a:srgbClr val="16294A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626" y="1713586"/>
            <a:ext cx="321869" cy="32186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85800" y="2606040"/>
            <a:ext cx="9326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develop a diverse portfolio of technologies, products, and services that gives all people equal access to unbiased data and information.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68580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D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Lifetime Value Company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685800" y="53218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statement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at a glance</a:t>
            </a:r>
            <a:endParaRPr lang="en-US" sz="4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57400"/>
          <a:ext cx="1082009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920240"/>
                <a:gridCol w="1737360"/>
                <a:gridCol w="204185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2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2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2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2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spc="120" kern="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16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BeenVerified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Last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16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Bumper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history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Last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16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Ownerly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Homeowner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Last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16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NeighborWho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Last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16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MoneyBot5000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finance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0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Last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51206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reporting. Replace with your own figures and cite the system of record.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820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50" kern="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Palette and type scale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1635709" cy="1371600"/>
          </a:xfrm>
          <a:prstGeom prst="roundRect">
            <a:avLst>
              <a:gd name="adj" fmla="val 6667"/>
            </a:avLst>
          </a:prstGeom>
          <a:solidFill>
            <a:srgbClr val="0A1628"/>
          </a:solidFill>
          <a:ln/>
        </p:spPr>
      </p:sp>
      <p:sp>
        <p:nvSpPr>
          <p:cNvPr id="5" name="Text 3"/>
          <p:cNvSpPr/>
          <p:nvPr/>
        </p:nvSpPr>
        <p:spPr>
          <a:xfrm>
            <a:off x="832104" y="2761488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32104" y="2999232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#0A1628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22677" y="2011680"/>
            <a:ext cx="1635709" cy="1371600"/>
          </a:xfrm>
          <a:prstGeom prst="roundRect">
            <a:avLst>
              <a:gd name="adj" fmla="val 6667"/>
            </a:avLst>
          </a:prstGeom>
          <a:solidFill>
            <a:srgbClr val="1B5CFF"/>
          </a:solidFill>
          <a:ln/>
        </p:spPr>
      </p:sp>
      <p:sp>
        <p:nvSpPr>
          <p:cNvPr id="8" name="Text 6"/>
          <p:cNvSpPr/>
          <p:nvPr/>
        </p:nvSpPr>
        <p:spPr>
          <a:xfrm>
            <a:off x="2668981" y="2761488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68981" y="2999232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#1B5CFF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9554" y="2011680"/>
            <a:ext cx="1635709" cy="1371600"/>
          </a:xfrm>
          <a:prstGeom prst="roundRect">
            <a:avLst>
              <a:gd name="adj" fmla="val 6667"/>
            </a:avLst>
          </a:prstGeom>
          <a:solidFill>
            <a:srgbClr val="2BD9A4"/>
          </a:solidFill>
          <a:ln/>
        </p:spPr>
      </p:sp>
      <p:sp>
        <p:nvSpPr>
          <p:cNvPr id="11" name="Text 9"/>
          <p:cNvSpPr/>
          <p:nvPr/>
        </p:nvSpPr>
        <p:spPr>
          <a:xfrm>
            <a:off x="4505858" y="2761488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05858" y="2999232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#2BD9A4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96432" y="2011680"/>
            <a:ext cx="1635709" cy="1371600"/>
          </a:xfrm>
          <a:prstGeom prst="roundRect">
            <a:avLst>
              <a:gd name="adj" fmla="val 6667"/>
            </a:avLst>
          </a:prstGeom>
          <a:solidFill>
            <a:srgbClr val="FFB020"/>
          </a:solidFill>
          <a:ln/>
        </p:spPr>
      </p:sp>
      <p:sp>
        <p:nvSpPr>
          <p:cNvPr id="14" name="Text 12"/>
          <p:cNvSpPr/>
          <p:nvPr/>
        </p:nvSpPr>
        <p:spPr>
          <a:xfrm>
            <a:off x="6342736" y="2761488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42736" y="2999232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#FFB020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33309" y="2011680"/>
            <a:ext cx="1635709" cy="13716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79613" y="2761488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79613" y="2999232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#F5F8FC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870186" y="2011680"/>
            <a:ext cx="1635709" cy="1371600"/>
          </a:xfrm>
          <a:prstGeom prst="roundRect">
            <a:avLst>
              <a:gd name="adj" fmla="val 6667"/>
            </a:avLst>
          </a:prstGeom>
          <a:solidFill>
            <a:srgbClr val="DCE4F0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6490" y="2761488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16490" y="2999232"/>
            <a:ext cx="1343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#DCE4F0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" y="36118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SCALE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39776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— Arial Bold 50pt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85800" y="43799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 — Arial Bold 40pt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85800" y="478231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header — Arial Bold 20pt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85800" y="51846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copy — Calibri Regular 14pt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55869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 — Calibri Regular 11pt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49440" y="3566160"/>
            <a:ext cx="4556455" cy="2423160"/>
          </a:xfrm>
          <a:prstGeom prst="roundRect">
            <a:avLst>
              <a:gd name="adj" fmla="val 4528"/>
            </a:avLst>
          </a:prstGeom>
          <a:solidFill>
            <a:srgbClr val="F5F8FC"/>
          </a:solidFill>
          <a:ln/>
        </p:spPr>
      </p:sp>
      <p:sp>
        <p:nvSpPr>
          <p:cNvPr id="29" name="Text 27"/>
          <p:cNvSpPr/>
          <p:nvPr/>
        </p:nvSpPr>
        <p:spPr>
          <a:xfrm>
            <a:off x="7269480" y="37673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1B5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269480" y="4069080"/>
            <a:ext cx="4023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 carries the dark slides: cover, section, quote, closing.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is the working accent for kickers, numbers and charts.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 is the sharp accent — one moment per slide.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is for data only, never body text.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0.75in margins and 0.3in between blocks.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8580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0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 ·  ltvco.com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3657600"/>
            <a:ext cx="3474720" cy="3474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1488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</a:t>
            </a:r>
            <a:pPr indent="0" marL="0">
              <a:buNone/>
            </a:pPr>
            <a:r>
              <a:rPr lang="en-US" sz="5000" b="1" spc="-120" kern="0" dirty="0">
                <a:solidFill>
                  <a:srgbClr val="2BD9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685800" y="331012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DB0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Questions, or want the underlying data? Get in touch.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85800" y="4114800"/>
            <a:ext cx="493776" cy="493776"/>
          </a:xfrm>
          <a:prstGeom prst="ellipse">
            <a:avLst/>
          </a:prstGeom>
          <a:solidFill>
            <a:srgbClr val="16294A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057" y="4253057"/>
            <a:ext cx="217261" cy="21726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99032" y="4114800"/>
            <a:ext cx="4572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ltvco.com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85800" y="4828032"/>
            <a:ext cx="493776" cy="493776"/>
          </a:xfrm>
          <a:prstGeom prst="ellipse">
            <a:avLst/>
          </a:prstGeom>
          <a:solidFill>
            <a:srgbClr val="16294A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057" y="4966289"/>
            <a:ext cx="217261" cy="21726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99032" y="4828032"/>
            <a:ext cx="4572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hello@ltvco.com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68580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9DB0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LIFETIME VALUE COMPANY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The Lifetime Value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LTV — Presentation Boilerplate</dc:title>
  <dc:subject>PptxGenJS Presentation</dc:subject>
  <dc:creator>The Lifetime Value Company</dc:creator>
  <cp:lastModifiedBy>The Lifetime Value Company</cp:lastModifiedBy>
  <cp:revision>1</cp:revision>
  <dcterms:created xsi:type="dcterms:W3CDTF">2026-08-07T16:52:24Z</dcterms:created>
  <dcterms:modified xsi:type="dcterms:W3CDTF">2026-08-07T16:52:24Z</dcterms:modified>
</cp:coreProperties>
</file>